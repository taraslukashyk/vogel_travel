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vogel_travel\user data\Скріни Сайту\Титул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1A1A2E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2834640"/>
            <a:ext cx="1097280" cy="4572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Vogel Family Travel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Веб-платформа преміального туристичного консьєрж-сервісу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Квітень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Vogel Travel?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Преміальний туристичний консьєрж-сервіс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ексклюзивних турів, сервісів та партнерів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Повноцінна система замовлень та оплати на сайті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Миттєвий зв'язок з менеджерами через Telegram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Підтримка двох мов: Українська та English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Повна адаптивність: мобільний, планшет, десктоп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3017520" cy="1371600"/>
          </a:xfrm>
          <a:prstGeom prst="rect">
            <a:avLst/>
          </a:prstGeom>
          <a:solidFill>
            <a:srgbClr val="E8F7F5"/>
          </a:solidFill>
          <a:ln w="254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0" y="1005840"/>
            <a:ext cx="54864" cy="137160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8" name="Text 6"/>
          <p:cNvSpPr/>
          <p:nvPr/>
        </p:nvSpPr>
        <p:spPr>
          <a:xfrm>
            <a:off x="5980176" y="1005840"/>
            <a:ext cx="2852928" cy="1371600"/>
          </a:xfrm>
          <a:prstGeom prst="rect">
            <a:avLst/>
          </a:prstGeom>
          <a:noFill/>
          <a:ln/>
        </p:spPr>
        <p:txBody>
          <a:bodyPr wrap="square" lIns="76200" tIns="76200" rIns="1016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CMS-панель адміністратора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контент сайту управляється через захищену адмін-панель без участі розробника.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2651760"/>
            <a:ext cx="685800" cy="685800"/>
          </a:xfrm>
          <a:prstGeom prst="rect">
            <a:avLst/>
          </a:prstGeom>
          <a:solidFill>
            <a:srgbClr val="E8F7F5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2670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30358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мови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20256" y="2651760"/>
            <a:ext cx="685800" cy="685800"/>
          </a:xfrm>
          <a:prstGeom prst="rect">
            <a:avLst/>
          </a:prstGeom>
          <a:solidFill>
            <a:srgbClr val="E8F7F5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0256" y="2670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0256" y="30358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Адаптивний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88352" y="2651760"/>
            <a:ext cx="685800" cy="685800"/>
          </a:xfrm>
          <a:prstGeom prst="rect">
            <a:avLst/>
          </a:prstGeom>
          <a:solidFill>
            <a:srgbClr val="E8F7F5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352" y="2670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88352" y="30358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Безпечно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56448" y="2651760"/>
            <a:ext cx="685800" cy="685800"/>
          </a:xfrm>
          <a:prstGeom prst="rect">
            <a:avLst/>
          </a:prstGeom>
          <a:solidFill>
            <a:srgbClr val="E8F7F5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2670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56448" y="30358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Миттєво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Vogel Travel — не просто вітрина, а повноцінний інструмент організації преміальних подорожей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та навігація сайту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20040"/>
          </a:xfrm>
          <a:prstGeom prst="rect">
            <a:avLst/>
          </a:prstGeom>
          <a:solidFill>
            <a:srgbClr val="5CC8BD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ПУБЛІЧНІ СТОРІНКИ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411480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44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Головна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196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ℹ️  Про нас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231136"/>
            <a:ext cx="411480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951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 Тури та оферти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70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🛎️  Сервіси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411480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Партнери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21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 Блог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133088"/>
            <a:ext cx="411480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97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Контакти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ОСОБЛИВОСТІ НАВІГАЦІЇ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298448"/>
            <a:ext cx="54864" cy="73152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Дві мови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URL-префікси /ua/ та /en/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093976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093976"/>
            <a:ext cx="54864" cy="73152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Пошук по сайту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2441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Тури, сервіси, статті блогу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2889504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889504"/>
            <a:ext cx="54864" cy="73152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Мобільне меню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236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Гамбургер → вертикальне меню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3685032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685032"/>
            <a:ext cx="54864" cy="73152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Мовні посилання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92040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Посилання зберігають мову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Хедер сайту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950976"/>
            <a:ext cx="4114800" cy="347472"/>
          </a:xfrm>
          <a:prstGeom prst="rect">
            <a:avLst/>
          </a:prstGeom>
          <a:solidFill>
            <a:srgbClr val="E8F7F5"/>
          </a:solidFill>
          <a:ln w="12700">
            <a:solidFill>
              <a:srgbClr val="E8F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9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Верхня смуга (десктоп)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+38 050 469 2882  |  +38 044 469 2882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 •  Facebook  •  WhatsApp  •  Telegram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1148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950976"/>
            <a:ext cx="4114800" cy="347472"/>
          </a:xfrm>
          <a:prstGeom prst="rect">
            <a:avLst/>
          </a:prstGeom>
          <a:solidFill>
            <a:srgbClr val="E8F7F5"/>
          </a:solidFill>
          <a:ln w="12700">
            <a:solidFill>
              <a:srgbClr val="E8F7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969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Навігаційна панель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353312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Логотип → Головна сторінка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Меню: Про нас | Тури | Сервіси | Партнери | Блог | Контакти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Пошук (від 2 символів → SearchPortal)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«ЗВЯЖІТЬСЯ З НАМИ» → модальна форма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41148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962656"/>
            <a:ext cx="4114800" cy="347472"/>
          </a:xfrm>
          <a:prstGeom prst="rect">
            <a:avLst/>
          </a:prstGeom>
          <a:solidFill>
            <a:srgbClr val="E8F7F5"/>
          </a:solidFill>
          <a:ln w="12700">
            <a:solidFill>
              <a:srgbClr val="E8F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809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QR-код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364992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 у Telegram-групу Vogel Travel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Ексклюзивні пропозиції та live-оновлення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Посилання можна змінити в адмін-панелі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26080"/>
            <a:ext cx="41148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2962656"/>
            <a:ext cx="4114800" cy="347472"/>
          </a:xfrm>
          <a:prstGeom prst="rect">
            <a:avLst/>
          </a:prstGeom>
          <a:solidFill>
            <a:srgbClr val="E8F7F5"/>
          </a:solidFill>
          <a:ln w="12700">
            <a:solidFill>
              <a:srgbClr val="E8F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9809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Мобільне меню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364992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Кнопка-гамбургер (☰)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Вертикальне меню з усіма посиланнями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Перемикач мови UA / EN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сторінка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743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Hero-секція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" y="182880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Повноекранний банер з відео/фото, слоган, кнопка CTA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914400"/>
            <a:ext cx="2743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2" name="Text 10"/>
          <p:cNvSpPr/>
          <p:nvPr/>
        </p:nvSpPr>
        <p:spPr>
          <a:xfrm>
            <a:off x="3172968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64408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Переваги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82696" y="182880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Іконки: персональний підхід, підтримка 24/7, ексклюзивні умови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17336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914400"/>
            <a:ext cx="2743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7" name="Text 15"/>
          <p:cNvSpPr/>
          <p:nvPr/>
        </p:nvSpPr>
        <p:spPr>
          <a:xfrm>
            <a:off x="6117336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✈️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08776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Популярні тури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27064" y="182880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Карусель карток актуальних турів зі знижками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94436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44368"/>
            <a:ext cx="2743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3035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0040" y="3511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Партнери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8328" y="385876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Логотипи ключових партнерів Vogel Travel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72968" y="294436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2944368"/>
            <a:ext cx="2743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27" name="Text 25"/>
          <p:cNvSpPr/>
          <p:nvPr/>
        </p:nvSpPr>
        <p:spPr>
          <a:xfrm>
            <a:off x="3172968" y="3035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📰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264408" y="3511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Блог-карусель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82696" y="385876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Останні статті з обкладинкою та заголовком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17336" y="294436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17336" y="2944368"/>
            <a:ext cx="2743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32" name="Text 30"/>
          <p:cNvSpPr/>
          <p:nvPr/>
        </p:nvSpPr>
        <p:spPr>
          <a:xfrm>
            <a:off x="6117336" y="3035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208776" y="3511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Фінальна цитата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27064" y="385876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Надихальний заклик до дії та контакти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Сторінка Тури та Оферти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846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84632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турів  —  /ua/offers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картка туру містить: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готелю (масштабується при наведенні)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Значок знижки (пульсуючий)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Мітка локації (нижній лівий кут фото)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 готелю / туру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Дедлайн бронювання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📆 Термін перебування (від — до)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«Деталі»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49240" y="914400"/>
            <a:ext cx="3520440" cy="3840480"/>
          </a:xfrm>
          <a:prstGeom prst="rect">
            <a:avLst/>
          </a:prstGeom>
          <a:solidFill>
            <a:srgbClr val="E8F7F5"/>
          </a:solidFill>
          <a:ln w="254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9240" y="914400"/>
            <a:ext cx="54864" cy="384048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Деталізація туру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/ua/offers/:slug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572768"/>
            <a:ext cx="3246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Велике фото або галерея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опис та умови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Дати, ночі, знижка, дедлайн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«ЗАМОВИТИ»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Форма замовлення туру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Сторінка Сервіси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Адреса: /ua/services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01168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з номером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Велике зображення з напівпрозорим порядковим номером 01, 02...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50592" y="11887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188720"/>
            <a:ext cx="201168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42032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Іконка + Назва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084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Іконка сервісу та заголовок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26864" y="11887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188720"/>
            <a:ext cx="201168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18304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 та список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2084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та маркований перелік складових сервісу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03136" y="11887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188720"/>
            <a:ext cx="201168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23" name="Text 21"/>
          <p:cNvSpPr/>
          <p:nvPr/>
        </p:nvSpPr>
        <p:spPr>
          <a:xfrm>
            <a:off x="6803136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👆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94576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Посилання «Деталі»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2084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З'являється при наведенні → детальна сторінка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547872"/>
            <a:ext cx="859536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6118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576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Чергування розташування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ліво/право | Анімація появи при скролінгу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60520" cy="1234440"/>
          </a:xfrm>
          <a:prstGeom prst="rect">
            <a:avLst/>
          </a:prstGeom>
          <a:solidFill>
            <a:srgbClr val="E8F7F5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6576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Деталізація сервісу  /ua/services/:slug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Зображення + повний опис + кнопка замовлення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Інтерактивна карта партнерів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75488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058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Інтерактивна карта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/ua/partners — повноекранна карта (темна тема)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Партнери — світячі мітки на карті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користуватися: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44805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Перетягніть карту для переміщення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Scroll або кнопки +/- для зуму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«Глобус» → початковий вид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Наведіть на мітку → картка партнера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Клік на мітку → сторінка партнера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0" y="9144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2080" y="914400"/>
            <a:ext cx="36576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987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Картка партнера містить: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298448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Логотип або кольорові ініціали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 та категорія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Локація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Посилання «Деталі» при наведенні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0" y="2926080"/>
            <a:ext cx="3657600" cy="1828800"/>
          </a:xfrm>
          <a:prstGeom prst="rect">
            <a:avLst/>
          </a:prstGeom>
          <a:solidFill>
            <a:srgbClr val="E8F7F5"/>
          </a:solidFill>
          <a:ln w="254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2926080"/>
            <a:ext cx="54864" cy="182880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Секція «Стати партнером»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49240" y="3401568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Ексклюзивні умови та бази
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Персональний менеджер 24/7
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Глобальне покриття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Блог Vogel Travel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20624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875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статей  —  /ua/blog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261872"/>
            <a:ext cx="398678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Обкладинка статті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Категорія та заголовок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Короткий анонс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публікації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Клік → повна стаття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20624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9875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Повна стаття  —  /ua/blog/:slug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261872"/>
            <a:ext cx="398678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Великий заголовок і обкладинка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Дата, категорія, автор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Text: заголовки, списки, цитати, зображення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Навігація на інші статті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E8F7F5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520440"/>
            <a:ext cx="54864" cy="137160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66160"/>
            <a:ext cx="8321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Редагування контенту
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Статті та сторінки блогу редагуються через Rich Text Editor в адмін-панелі. Підтримка форматування: заголовки, жирний, курсив, маркований список, цитати, вбудовані зображення.
</a:t>
            </a:r>
            <a:pPr indent="0" marL="0">
              <a:buNone/>
            </a:pPr>
            <a:r>
              <a:rPr lang="en-US" sz="1100" i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Детальніше: «Інструкція адміністратора Vogel Travel.docx»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Сторінка Контакти — Форма замовлення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029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Адреса: /ua/contacts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Ім'я, Прізвище, Телефон, Email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Вибір туру або сервісу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Кількість дорослих (1–5+)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👶 Кількість дітей до 16 (0–5+)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Деталі + голосове повідомлення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Google Pay | Apple Pay | MonoPay | Приват24 | Карта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Погодження з офертою та конфіденційністю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4160520"/>
            <a:ext cx="2286000" cy="411480"/>
          </a:xfrm>
          <a:prstGeom prst="rect">
            <a:avLst/>
          </a:prstGeom>
          <a:solidFill>
            <a:srgbClr val="5CC8BD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СПЛАТИТИ ОНЛАЙН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4640" y="4160520"/>
            <a:ext cx="23317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СПЛАТИТИ ЗА ІНВОЙСОМ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914400"/>
            <a:ext cx="3291840" cy="3840480"/>
          </a:xfrm>
          <a:prstGeom prst="rect">
            <a:avLst/>
          </a:prstGeom>
          <a:solidFill>
            <a:srgbClr val="E8F7F5"/>
          </a:solidFill>
          <a:ln w="127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914400"/>
            <a:ext cx="54864" cy="384048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987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Бічна панель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1325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Телефони (мобільний, офіс)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Графік роботи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Карта офісу (Київ)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«Відкрити в Google Maps»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Публічна оферта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Політика конфіденційності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Cookies та Повернення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 оформлення замовлення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1691640"/>
          </a:xfrm>
          <a:prstGeom prst="rect">
            <a:avLst/>
          </a:prstGeom>
          <a:solidFill>
            <a:srgbClr val="5CC8BD"/>
          </a:solidFill>
          <a:ln w="127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24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ВИБІР ПОСЛУГИ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Оберіть тур або сервіс у вікні вибору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960120"/>
            <a:ext cx="2743200" cy="1691640"/>
          </a:xfrm>
          <a:prstGeom prst="rect">
            <a:avLst/>
          </a:prstGeom>
          <a:solidFill>
            <a:srgbClr val="5CC8BD"/>
          </a:solidFill>
          <a:ln w="127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024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55848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ДАНІ КЛІЄНТА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1874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Ім'я, телефон, email, кількість осіб, деталі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960120"/>
            <a:ext cx="2743200" cy="1691640"/>
          </a:xfrm>
          <a:prstGeom prst="rect">
            <a:avLst/>
          </a:prstGeom>
          <a:solidFill>
            <a:srgbClr val="5CC8BD"/>
          </a:solidFill>
          <a:ln w="127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1024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0216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ОПЛАТИ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1874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 або Інвойс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850392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2944368"/>
            <a:ext cx="41605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44368"/>
            <a:ext cx="416052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4а — ОНЛАЙН-ОПЛАТА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31012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Вибір методу → погодження з офертою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«СПЛАТИТИ ОНЛАЙН»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Telegram-повідомлення менеджеру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944368"/>
            <a:ext cx="4160520" cy="1828800"/>
          </a:xfrm>
          <a:prstGeom prst="rect">
            <a:avLst/>
          </a:prstGeom>
          <a:solidFill>
            <a:srgbClr val="E8F7F5"/>
          </a:solidFill>
          <a:ln w="254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44368"/>
            <a:ext cx="416052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4б — ОПЛАТА ЗА ІНВОЙСОМ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31012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Генерація PDF-інвойсу → прев'ю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Завантаження PDF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Telegram: повідомлення + PDF-файл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Інвойс: прев'ю та завантаження PDF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029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Прев'ю інвойсу відображає: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Рахунок на оплату № [номер] від [дата]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Дані постачальника: IBAN, банк, ЄДРПОУ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Дані покупця (заповнені з форми)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Номер договору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Таблиця: послуга, кількість, ціна, сума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Загальна сума цифрами та прописом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Рядок для підпису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914400"/>
            <a:ext cx="3291840" cy="1828800"/>
          </a:xfrm>
          <a:prstGeom prst="rect">
            <a:avLst/>
          </a:prstGeom>
          <a:solidFill>
            <a:srgbClr val="E8F7F5"/>
          </a:solidFill>
          <a:ln w="254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914400"/>
            <a:ext cx="54864" cy="182880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987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Дії в прев'ю: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1298448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 «ЗАВАНТАЖИТИ PDF»
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Зберігає файл invoice-XXXXXX.pdf
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Закрити без завантаження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2880360"/>
            <a:ext cx="3291840" cy="1874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У Telegram надходить: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32918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Структуроване повідомлення
з деталями замовлення
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PDF-файл як документ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(invoice-XXXXXX.pdf)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звернення — у Telegram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Миттєві структуровані повідомлення від кожного клієнта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148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6187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📩  Зворотній зв'язок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60934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Ім'я, телефон, email   •   Коментар клієнта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70432"/>
            <a:ext cx="41148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26187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Замовлення туру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60934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Клієнт та контакти   •   Назва туру   •   Деталі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862072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62072"/>
            <a:ext cx="41148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95351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Онлайн-оплата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30098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Клієнт та послуга   •   Кількість осіб   •   Сума та метод оплати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862072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862072"/>
            <a:ext cx="41148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95351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  Інвойс + PDF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30098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Клієнт та послуга   •   Сума замовлення   •   📎 Прикріплений PDF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4553712"/>
            <a:ext cx="8595360" cy="347472"/>
          </a:xfrm>
          <a:prstGeom prst="rect">
            <a:avLst/>
          </a:prstGeom>
          <a:solidFill>
            <a:srgbClr val="E8F7F5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5537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Голосове повідомлення — окреме аудіо-повідомлення-відповідь з підписом клієнта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Голосові повідомлення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754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75488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87552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доступне записування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261872"/>
            <a:ext cx="45354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зворотного зв'язку (кнопка в хедері)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замовлення туру (OrderTourModal)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на сторінці Контактів — поле «Деталі»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3154680"/>
            <a:ext cx="4754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154680"/>
            <a:ext cx="475488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2278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записати: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20440"/>
            <a:ext cx="44805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Натисніть іконку 🎙️ мікрофона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Дозвольте доступ до мікрофона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 (червона точка + таймер)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Зупиніть запис (кнопка ■)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Прослухайте або видаліть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914400"/>
            <a:ext cx="361188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57800" y="914400"/>
            <a:ext cx="361188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1005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відбувається далі: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37160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відправці форми аудіо-файл передається в Telegram-бот
</a:t>
            </a:r>
            <a:pPr indent="0" marL="0">
              <a:buNone/>
            </a:pPr>
            <a:r>
              <a:rPr lang="en-US" sz="120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Окреме повідомлення-відповідь
на основну нотифікацію
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Підпис: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«🎙️ Голосове повідомлення від: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Ім'я Прізвище»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Пошук по сайту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Пошуковий рядок у хедері   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Введіть 2+ символи → автоматично відкривається SearchPortal (повноекранний оверлей)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743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✈️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Тури та оферти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788920"/>
            <a:ext cx="252374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Пошук за назвою готелю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локацією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Відображення: картки з фото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значком знижки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18688" y="1874520"/>
            <a:ext cx="274320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874520"/>
            <a:ext cx="2743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🛎️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10128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Сервіси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2788920"/>
            <a:ext cx="252374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Пошук за назвою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описом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Відображення: рядки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назвою та описом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3056" y="1874520"/>
            <a:ext cx="274320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874520"/>
            <a:ext cx="274320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📰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54496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72784" y="2788920"/>
            <a:ext cx="252374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Пошук за заголовком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анотацією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Відображення: картки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обкладинкою та заголовком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нічого не знайдено → посилання для перегляду Турів, Сервісів та Блогу   |   Закрити: кнопка ✕ або клік поза вікном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QR-код та Telegram-спільнота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57200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05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QR-код у футері сайту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Відскануйте смартфоном →
закрита Telegram-група Vogel Travel
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Ексклюзивні пропозиції
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Live-оновлення
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Новини компанії
</a:t>
            </a:r>
            <a:pPr indent="0" marL="0">
              <a:buNone/>
            </a:pPr>
            <a:r>
              <a:rPr lang="en-US" sz="1200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«Актуальні оновлення» (пульсуюча точка)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0" y="914400"/>
            <a:ext cx="3840480" cy="3840480"/>
          </a:xfrm>
          <a:prstGeom prst="rect">
            <a:avLst/>
          </a:prstGeom>
          <a:solidFill>
            <a:srgbClr val="E8F7F5"/>
          </a:solidFill>
          <a:ln w="254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914400"/>
            <a:ext cx="54864" cy="384048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Гнучке налаштування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QR-код можна налаштувати в адмін-панелі на будь-яке посилання: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Telegram-група або канал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Instagram-сторінка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Акційна сторінка або лендінг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Реєстраційна форма на захід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або інший медіа-канал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Зміна посилання займає 1 хвилину в адмін-панелі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B2B-співпраця: поточний стан та перспективи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Поточний стан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сторінках Контакти та Партнери: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«ЗАПОВНИТИ ЗАЯВКУ»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«B2B СПІВПРАЦЯ»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Наразі ведуть до футеру сайту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724912"/>
            <a:ext cx="3840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Переваги партнерства: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10896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Ексклюзивні умови та бази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Персональний менеджер 24/7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Глобальне покриття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4297680" cy="3840480"/>
          </a:xfrm>
          <a:prstGeom prst="rect">
            <a:avLst/>
          </a:prstGeom>
          <a:solidFill>
            <a:srgbClr val="E8F7F5"/>
          </a:solidFill>
          <a:ln w="254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914400"/>
            <a:ext cx="54864" cy="384048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Перспективи розвитку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353312"/>
            <a:ext cx="320040" cy="320040"/>
          </a:xfrm>
          <a:prstGeom prst="rect">
            <a:avLst/>
          </a:prstGeom>
          <a:solidFill>
            <a:srgbClr val="5CC8BD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1371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B2B-заявки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16276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 компанії, сфера діяльності, контакт → Telegram-нотифікація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176272"/>
            <a:ext cx="320040" cy="320040"/>
          </a:xfrm>
          <a:prstGeom prst="rect">
            <a:avLst/>
          </a:prstGeom>
          <a:solidFill>
            <a:srgbClr val="5CC8BD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194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Сторінка B2B-умов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 партнерств, фінансові умови, процес приєднання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99232"/>
            <a:ext cx="320040" cy="320040"/>
          </a:xfrm>
          <a:prstGeom prst="rect">
            <a:avLst/>
          </a:prstGeom>
          <a:solidFill>
            <a:srgbClr val="5CC8BD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30175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Партнерський кабінет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32735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Захищена зона: документи, статистика, замовлення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822192"/>
            <a:ext cx="320040" cy="320040"/>
          </a:xfrm>
          <a:prstGeom prst="rect">
            <a:avLst/>
          </a:prstGeom>
          <a:solidFill>
            <a:srgbClr val="5CC8BD"/>
          </a:solidFill>
          <a:ln w="12700">
            <a:solidFill>
              <a:srgbClr val="5CC8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3840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CRM-інтеграція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40965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Автоматичне створення ліда при надходженні заявки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Адміністративна панель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303520" cy="3200400"/>
          </a:xfrm>
          <a:prstGeom prst="rect">
            <a:avLst/>
          </a:prstGeom>
          <a:solidFill>
            <a:srgbClr val="1E2537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30352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www.vogel.travel/admin/login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можна редагувати: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50292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Тури та оферти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Статті блогу (Rich Text Editor)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🛎️ Сервіси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Партнери (+ координати на карті)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SEO-налаштування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Глобальні налаштування (контакти, QR)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914400"/>
            <a:ext cx="3063240" cy="3200400"/>
          </a:xfrm>
          <a:prstGeom prst="rect">
            <a:avLst/>
          </a:prstGeom>
          <a:solidFill>
            <a:srgbClr val="E8F7F5"/>
          </a:solidFill>
          <a:ln w="25400">
            <a:solidFill>
              <a:srgbClr val="5CC8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06440" y="914400"/>
            <a:ext cx="3063240" cy="36576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005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Детальна інструкція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1371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«Інструкція адміністратора Vogel Travel.docx»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99339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Містить покроковий опис роботи з усіма розділами адмін-панелі.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0" y="28346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Доступ захищений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логіном та паролем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279392"/>
            <a:ext cx="9144000" cy="864108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279392"/>
            <a:ext cx="859536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Vogel Family Travel   |   www.vogel.travel   |   +38 050 469 2882   |   Квітень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Vogel Travel — Презентація платформи</dc:title>
  <dc:subject>PptxGenJS Presentation</dc:subject>
  <dc:creator>Vogel Family Travel</dc:creator>
  <cp:lastModifiedBy>Vogel Family Travel</cp:lastModifiedBy>
  <cp:revision>1</cp:revision>
  <dcterms:created xsi:type="dcterms:W3CDTF">2026-04-02T06:29:28Z</dcterms:created>
  <dcterms:modified xsi:type="dcterms:W3CDTF">2026-04-02T06:29:28Z</dcterms:modified>
</cp:coreProperties>
</file>